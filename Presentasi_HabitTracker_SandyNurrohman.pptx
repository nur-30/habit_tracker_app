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E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418320" y="-1645920"/>
            <a:ext cx="4572000" cy="4572000"/>
          </a:xfrm>
          <a:prstGeom prst="ellipse">
            <a:avLst/>
          </a:prstGeom>
          <a:solidFill>
            <a:srgbClr val="3D5A80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371600" y="4754880"/>
            <a:ext cx="3657600" cy="3657600"/>
          </a:xfrm>
          <a:prstGeom prst="ellipse">
            <a:avLst/>
          </a:prstGeom>
          <a:solidFill>
            <a:srgbClr val="EE6C4D">
              <a:alpha val="22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5544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EE6C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PROJECT — UAS MOBILE COMPUTING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77240" y="1965960"/>
            <a:ext cx="9601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Habit Tracker App</a:t>
            </a:r>
            <a:endParaRPr lang="en-US" sz="5400" dirty="0"/>
          </a:p>
        </p:txBody>
      </p:sp>
      <p:sp>
        <p:nvSpPr>
          <p:cNvPr id="6" name="Text 4"/>
          <p:cNvSpPr/>
          <p:nvPr/>
        </p:nvSpPr>
        <p:spPr>
          <a:xfrm>
            <a:off x="822960" y="3246120"/>
            <a:ext cx="8686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C9D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Aplikasi pelacak kebiasaan harian berbasis Flutter — mencatat progres, menjaga</a:t>
            </a:r>
            <a:endParaRPr lang="en-US" sz="16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C9D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streak, dan mengambil foto bukti langsung dari kamera perangkat.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822960" y="4892040"/>
            <a:ext cx="2011680" cy="0"/>
          </a:xfrm>
          <a:prstGeom prst="line">
            <a:avLst/>
          </a:prstGeom>
          <a:noFill/>
          <a:ln w="31750">
            <a:solidFill>
              <a:srgbClr val="EE6C4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5120640"/>
            <a:ext cx="5486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Sandy Nurrohman</a:t>
            </a:r>
            <a:endParaRPr lang="en-US" sz="17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9FB0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NIM 24110500004</a:t>
            </a:r>
            <a:endParaRPr lang="en-US" sz="1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56032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EE6C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 PRESENTASI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45720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E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Yang Akan Dibahas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5440680" cy="1417320"/>
          </a:xfrm>
          <a:prstGeom prst="roundRect">
            <a:avLst>
              <a:gd name="adj" fmla="val 5806"/>
            </a:avLst>
          </a:prstGeom>
          <a:solidFill>
            <a:srgbClr val="F4F6F9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673352"/>
            <a:ext cx="914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6B8CA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1600200" y="1709928"/>
            <a:ext cx="4160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Latar Belakang &amp; Tujuan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1600200" y="2167128"/>
            <a:ext cx="4160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Kenapa aplikasi ini dibuat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355080" y="1508760"/>
            <a:ext cx="5440680" cy="1417320"/>
          </a:xfrm>
          <a:prstGeom prst="roundRect">
            <a:avLst>
              <a:gd name="adj" fmla="val 5806"/>
            </a:avLst>
          </a:prstGeom>
          <a:solidFill>
            <a:srgbClr val="F4F6F9"/>
          </a:solidFill>
          <a:ln/>
        </p:spPr>
      </p:sp>
      <p:sp>
        <p:nvSpPr>
          <p:cNvPr id="9" name="Text 7"/>
          <p:cNvSpPr/>
          <p:nvPr/>
        </p:nvSpPr>
        <p:spPr>
          <a:xfrm>
            <a:off x="6583680" y="1673352"/>
            <a:ext cx="914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6B8CA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7406640" y="1709928"/>
            <a:ext cx="4160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Tema &amp; Fitur Utama</a:t>
            </a:r>
            <a:endParaRPr lang="en-US" sz="1550" dirty="0"/>
          </a:p>
        </p:txBody>
      </p:sp>
      <p:sp>
        <p:nvSpPr>
          <p:cNvPr id="11" name="Text 9"/>
          <p:cNvSpPr/>
          <p:nvPr/>
        </p:nvSpPr>
        <p:spPr>
          <a:xfrm>
            <a:off x="7406640" y="2167128"/>
            <a:ext cx="4160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Ringkasan fungsi aplikasi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48640" y="3063240"/>
            <a:ext cx="5440680" cy="1417320"/>
          </a:xfrm>
          <a:prstGeom prst="roundRect">
            <a:avLst>
              <a:gd name="adj" fmla="val 5806"/>
            </a:avLst>
          </a:prstGeom>
          <a:solidFill>
            <a:srgbClr val="F4F6F9"/>
          </a:solidFill>
          <a:ln/>
        </p:spPr>
      </p:sp>
      <p:sp>
        <p:nvSpPr>
          <p:cNvPr id="13" name="Text 11"/>
          <p:cNvSpPr/>
          <p:nvPr/>
        </p:nvSpPr>
        <p:spPr>
          <a:xfrm>
            <a:off x="777240" y="3227832"/>
            <a:ext cx="914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6B8CA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1600200" y="3264408"/>
            <a:ext cx="4160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Arsitektur &amp; Teknologi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1600200" y="3721608"/>
            <a:ext cx="4160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Provider, Hive, dan struktur proyek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355080" y="3063240"/>
            <a:ext cx="5440680" cy="1417320"/>
          </a:xfrm>
          <a:prstGeom prst="roundRect">
            <a:avLst>
              <a:gd name="adj" fmla="val 5806"/>
            </a:avLst>
          </a:prstGeom>
          <a:solidFill>
            <a:srgbClr val="F4F6F9"/>
          </a:solidFill>
          <a:ln/>
        </p:spPr>
      </p:sp>
      <p:sp>
        <p:nvSpPr>
          <p:cNvPr id="17" name="Text 15"/>
          <p:cNvSpPr/>
          <p:nvPr/>
        </p:nvSpPr>
        <p:spPr>
          <a:xfrm>
            <a:off x="6583680" y="3227832"/>
            <a:ext cx="914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6B8CA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7406640" y="3264408"/>
            <a:ext cx="4160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Fitur Perangkat Mobile</a:t>
            </a:r>
            <a:endParaRPr lang="en-US" sz="1550" dirty="0"/>
          </a:p>
        </p:txBody>
      </p:sp>
      <p:sp>
        <p:nvSpPr>
          <p:cNvPr id="19" name="Text 17"/>
          <p:cNvSpPr/>
          <p:nvPr/>
        </p:nvSpPr>
        <p:spPr>
          <a:xfrm>
            <a:off x="7406640" y="3721608"/>
            <a:ext cx="4160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Kamera &amp; permission handling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548640" y="4617720"/>
            <a:ext cx="5440680" cy="1417320"/>
          </a:xfrm>
          <a:prstGeom prst="roundRect">
            <a:avLst>
              <a:gd name="adj" fmla="val 5806"/>
            </a:avLst>
          </a:prstGeom>
          <a:solidFill>
            <a:srgbClr val="F4F6F9"/>
          </a:solidFill>
          <a:ln/>
        </p:spPr>
      </p:sp>
      <p:sp>
        <p:nvSpPr>
          <p:cNvPr id="21" name="Text 19"/>
          <p:cNvSpPr/>
          <p:nvPr/>
        </p:nvSpPr>
        <p:spPr>
          <a:xfrm>
            <a:off x="777240" y="4782312"/>
            <a:ext cx="914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6B8CA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3000" dirty="0"/>
          </a:p>
        </p:txBody>
      </p:sp>
      <p:sp>
        <p:nvSpPr>
          <p:cNvPr id="22" name="Text 20"/>
          <p:cNvSpPr/>
          <p:nvPr/>
        </p:nvSpPr>
        <p:spPr>
          <a:xfrm>
            <a:off x="1600200" y="4818888"/>
            <a:ext cx="4160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Alur Navigasi &amp; Demo</a:t>
            </a:r>
            <a:endParaRPr lang="en-US" sz="1550" dirty="0"/>
          </a:p>
        </p:txBody>
      </p:sp>
      <p:sp>
        <p:nvSpPr>
          <p:cNvPr id="23" name="Text 21"/>
          <p:cNvSpPr/>
          <p:nvPr/>
        </p:nvSpPr>
        <p:spPr>
          <a:xfrm>
            <a:off x="1600200" y="5276088"/>
            <a:ext cx="4160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Perjalanan pengguna di 3 layar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6355080" y="4617720"/>
            <a:ext cx="5440680" cy="1417320"/>
          </a:xfrm>
          <a:prstGeom prst="roundRect">
            <a:avLst>
              <a:gd name="adj" fmla="val 5806"/>
            </a:avLst>
          </a:prstGeom>
          <a:solidFill>
            <a:srgbClr val="F4F6F9"/>
          </a:solidFill>
          <a:ln/>
        </p:spPr>
      </p:sp>
      <p:sp>
        <p:nvSpPr>
          <p:cNvPr id="25" name="Text 23"/>
          <p:cNvSpPr/>
          <p:nvPr/>
        </p:nvSpPr>
        <p:spPr>
          <a:xfrm>
            <a:off x="6583680" y="4782312"/>
            <a:ext cx="914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6B8CA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06</a:t>
            </a:r>
            <a:endParaRPr lang="en-US" sz="3000" dirty="0"/>
          </a:p>
        </p:txBody>
      </p:sp>
      <p:sp>
        <p:nvSpPr>
          <p:cNvPr id="26" name="Text 24"/>
          <p:cNvSpPr/>
          <p:nvPr/>
        </p:nvSpPr>
        <p:spPr>
          <a:xfrm>
            <a:off x="7406640" y="4818888"/>
            <a:ext cx="4160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&amp; Pengembangan Lanjutan</a:t>
            </a:r>
            <a:endParaRPr lang="en-US" sz="1550" dirty="0"/>
          </a:p>
        </p:txBody>
      </p:sp>
      <p:sp>
        <p:nvSpPr>
          <p:cNvPr id="27" name="Text 25"/>
          <p:cNvSpPr/>
          <p:nvPr/>
        </p:nvSpPr>
        <p:spPr>
          <a:xfrm>
            <a:off x="7406640" y="5276088"/>
            <a:ext cx="4160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Cara build APK dan rencana ke depan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54864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HABIT TRACKER APP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56032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EE6C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PENDAHULUAN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45720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E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Latar Belakang &amp; Tujuan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5394960" cy="4434840"/>
          </a:xfrm>
          <a:prstGeom prst="roundRect">
            <a:avLst>
              <a:gd name="adj" fmla="val 2062"/>
            </a:avLst>
          </a:prstGeom>
          <a:solidFill>
            <a:srgbClr val="1E2E3F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78308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E6C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Latar Belakang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914400" y="2194560"/>
            <a:ext cx="46634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350" dirty="0">
                <a:solidFill>
                  <a:srgbClr val="D7DF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Membentuk kebiasaan baik butuh konsistensi. Salah satu cara paling efektif adalah mencatat &amp; memantau progres setiap hari agar pengguna termotivasi menjaga streak-nya.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914400" y="3886200"/>
            <a:ext cx="4663440" cy="0"/>
          </a:xfrm>
          <a:prstGeom prst="line">
            <a:avLst/>
          </a:prstGeom>
          <a:noFill/>
          <a:ln w="12700">
            <a:solidFill>
              <a:srgbClr val="3E567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406908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E6C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Solusi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914400" y="4480560"/>
            <a:ext cx="4663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350" dirty="0">
                <a:solidFill>
                  <a:srgbClr val="D7DF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Aplikasi mobile Habit Tracker dibangun dengan Flutter sebagai final project mata kuliah Mobile Computing.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6263640" y="1508760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D5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Tujuan Proyek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263640" y="2039112"/>
            <a:ext cx="292608" cy="292608"/>
          </a:xfrm>
          <a:prstGeom prst="ellipse">
            <a:avLst/>
          </a:prstGeom>
          <a:solidFill>
            <a:srgbClr val="3D5A80"/>
          </a:solidFill>
          <a:ln/>
        </p:spPr>
      </p:sp>
      <p:sp>
        <p:nvSpPr>
          <p:cNvPr id="12" name="Text 10"/>
          <p:cNvSpPr/>
          <p:nvPr/>
        </p:nvSpPr>
        <p:spPr>
          <a:xfrm>
            <a:off x="6263640" y="203911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720840" y="2011680"/>
            <a:ext cx="4937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Mencatat &amp; memantau kebiasaan harian pengguna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6263640" y="2788920"/>
            <a:ext cx="292608" cy="292608"/>
          </a:xfrm>
          <a:prstGeom prst="ellipse">
            <a:avLst/>
          </a:prstGeom>
          <a:solidFill>
            <a:srgbClr val="3D5A80"/>
          </a:solidFill>
          <a:ln/>
        </p:spPr>
      </p:sp>
      <p:sp>
        <p:nvSpPr>
          <p:cNvPr id="15" name="Text 13"/>
          <p:cNvSpPr/>
          <p:nvPr/>
        </p:nvSpPr>
        <p:spPr>
          <a:xfrm>
            <a:off x="6263640" y="278892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720840" y="2761488"/>
            <a:ext cx="4937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management terpusat dengan Provider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6263640" y="3538728"/>
            <a:ext cx="292608" cy="292608"/>
          </a:xfrm>
          <a:prstGeom prst="ellipse">
            <a:avLst/>
          </a:prstGeom>
          <a:solidFill>
            <a:srgbClr val="3D5A80"/>
          </a:solidFill>
          <a:ln/>
        </p:spPr>
      </p:sp>
      <p:sp>
        <p:nvSpPr>
          <p:cNvPr id="18" name="Text 16"/>
          <p:cNvSpPr/>
          <p:nvPr/>
        </p:nvSpPr>
        <p:spPr>
          <a:xfrm>
            <a:off x="6263640" y="353872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720840" y="3511296"/>
            <a:ext cx="4937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Penyimpanan data lokal dengan Hive (tanpa server)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6263640" y="4288536"/>
            <a:ext cx="292608" cy="292608"/>
          </a:xfrm>
          <a:prstGeom prst="ellipse">
            <a:avLst/>
          </a:prstGeom>
          <a:solidFill>
            <a:srgbClr val="3D5A80"/>
          </a:solidFill>
          <a:ln/>
        </p:spPr>
      </p:sp>
      <p:sp>
        <p:nvSpPr>
          <p:cNvPr id="21" name="Text 19"/>
          <p:cNvSpPr/>
          <p:nvPr/>
        </p:nvSpPr>
        <p:spPr>
          <a:xfrm>
            <a:off x="6263640" y="428853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720840" y="4261104"/>
            <a:ext cx="4937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Akses kamera untuk foto bukti habit</a:t>
            </a:r>
            <a:endParaRPr lang="en-US" sz="1350" dirty="0"/>
          </a:p>
        </p:txBody>
      </p:sp>
      <p:sp>
        <p:nvSpPr>
          <p:cNvPr id="23" name="Shape 21"/>
          <p:cNvSpPr/>
          <p:nvPr/>
        </p:nvSpPr>
        <p:spPr>
          <a:xfrm>
            <a:off x="6263640" y="5038344"/>
            <a:ext cx="292608" cy="292608"/>
          </a:xfrm>
          <a:prstGeom prst="ellipse">
            <a:avLst/>
          </a:prstGeom>
          <a:solidFill>
            <a:srgbClr val="3D5A80"/>
          </a:solidFill>
          <a:ln/>
        </p:spPr>
      </p:sp>
      <p:sp>
        <p:nvSpPr>
          <p:cNvPr id="24" name="Text 22"/>
          <p:cNvSpPr/>
          <p:nvPr/>
        </p:nvSpPr>
        <p:spPr>
          <a:xfrm>
            <a:off x="6263640" y="503834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720840" y="5010912"/>
            <a:ext cx="4937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Validasi form &amp; permission handling yang baik</a:t>
            </a:r>
            <a:endParaRPr lang="en-US" sz="1350" dirty="0"/>
          </a:p>
        </p:txBody>
      </p:sp>
      <p:sp>
        <p:nvSpPr>
          <p:cNvPr id="26" name="Text 24"/>
          <p:cNvSpPr/>
          <p:nvPr/>
        </p:nvSpPr>
        <p:spPr>
          <a:xfrm>
            <a:off x="54864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HABIT TRACKER APP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56032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EE6C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TEMA APLIKASI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45720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E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Fitur Utama — Tiga Layar Navigasi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3611880" cy="2743200"/>
          </a:xfrm>
          <a:prstGeom prst="roundRect">
            <a:avLst>
              <a:gd name="adj" fmla="val 3333"/>
            </a:avLst>
          </a:prstGeom>
          <a:solidFill>
            <a:srgbClr val="F4F6F9"/>
          </a:solidFill>
          <a:ln/>
        </p:spPr>
      </p:sp>
      <p:sp>
        <p:nvSpPr>
          <p:cNvPr id="5" name="Shape 3"/>
          <p:cNvSpPr/>
          <p:nvPr/>
        </p:nvSpPr>
        <p:spPr>
          <a:xfrm>
            <a:off x="822960" y="1874520"/>
            <a:ext cx="640080" cy="640080"/>
          </a:xfrm>
          <a:prstGeom prst="roundRect">
            <a:avLst>
              <a:gd name="adj" fmla="val 20000"/>
            </a:avLst>
          </a:prstGeom>
          <a:solidFill>
            <a:srgbClr val="3D5A80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8745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822960" y="2697480"/>
            <a:ext cx="3063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HomeScreen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22960" y="3291840"/>
            <a:ext cx="3063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Daftar seluruh habit + ringkasan progres hari ini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389120" y="1600200"/>
            <a:ext cx="3611880" cy="2743200"/>
          </a:xfrm>
          <a:prstGeom prst="roundRect">
            <a:avLst>
              <a:gd name="adj" fmla="val 3333"/>
            </a:avLst>
          </a:prstGeom>
          <a:solidFill>
            <a:srgbClr val="3D5A80"/>
          </a:solidFill>
          <a:ln/>
        </p:spPr>
      </p:sp>
      <p:sp>
        <p:nvSpPr>
          <p:cNvPr id="10" name="Shape 8"/>
          <p:cNvSpPr/>
          <p:nvPr/>
        </p:nvSpPr>
        <p:spPr>
          <a:xfrm>
            <a:off x="4663440" y="1874520"/>
            <a:ext cx="640080" cy="6400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/>
        </p:spPr>
      </p:sp>
      <p:sp>
        <p:nvSpPr>
          <p:cNvPr id="11" name="Text 9"/>
          <p:cNvSpPr/>
          <p:nvPr/>
        </p:nvSpPr>
        <p:spPr>
          <a:xfrm>
            <a:off x="4663440" y="18745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3D5A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4663440" y="2697480"/>
            <a:ext cx="3063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AddEditHabitScreen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4663440" y="3291840"/>
            <a:ext cx="3063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E4EA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 tambah / edit habit dengan validasi input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8229600" y="1600200"/>
            <a:ext cx="3611880" cy="2743200"/>
          </a:xfrm>
          <a:prstGeom prst="roundRect">
            <a:avLst>
              <a:gd name="adj" fmla="val 3333"/>
            </a:avLst>
          </a:prstGeom>
          <a:solidFill>
            <a:srgbClr val="F4F6F9"/>
          </a:solidFill>
          <a:ln/>
        </p:spPr>
      </p:sp>
      <p:sp>
        <p:nvSpPr>
          <p:cNvPr id="15" name="Shape 13"/>
          <p:cNvSpPr/>
          <p:nvPr/>
        </p:nvSpPr>
        <p:spPr>
          <a:xfrm>
            <a:off x="8503920" y="1874520"/>
            <a:ext cx="640080" cy="640080"/>
          </a:xfrm>
          <a:prstGeom prst="roundRect">
            <a:avLst>
              <a:gd name="adj" fmla="val 20000"/>
            </a:avLst>
          </a:prstGeom>
          <a:solidFill>
            <a:srgbClr val="3D5A80"/>
          </a:solidFill>
          <a:ln/>
        </p:spPr>
      </p:sp>
      <p:sp>
        <p:nvSpPr>
          <p:cNvPr id="16" name="Text 14"/>
          <p:cNvSpPr/>
          <p:nvPr/>
        </p:nvSpPr>
        <p:spPr>
          <a:xfrm>
            <a:off x="8503920" y="18745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8503920" y="2697480"/>
            <a:ext cx="3063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HabitDetailScreen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8503920" y="3291840"/>
            <a:ext cx="3063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Detail, tandai selesai, ambil foto bukti, hapus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548640" y="461772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Fitur pendukung: perhitungan streak otomatis · 5 kategori habit · empty state · konfirmasi hapus · desain Material 3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4864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HABIT TRACKER APP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56032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EE6C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ARSITEKTUR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45720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E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Arsitektur Aplikasi &amp; Alur Data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1828800"/>
            <a:ext cx="3520440" cy="1417320"/>
          </a:xfrm>
          <a:prstGeom prst="roundRect">
            <a:avLst>
              <a:gd name="adj" fmla="val 6452"/>
            </a:avLst>
          </a:prstGeom>
          <a:solidFill>
            <a:srgbClr val="6B8CAE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965960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LAYER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914400" y="2249424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 &amp; Widgets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914400" y="2606040"/>
            <a:ext cx="3063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E7E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HomeScreen, AddEditHabitScreen,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E7E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HabitDetailScreen, HabitCard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4206240" y="2240280"/>
            <a:ext cx="502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EE6C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600" dirty="0"/>
          </a:p>
        </p:txBody>
      </p:sp>
      <p:sp>
        <p:nvSpPr>
          <p:cNvPr id="9" name="Shape 7"/>
          <p:cNvSpPr/>
          <p:nvPr/>
        </p:nvSpPr>
        <p:spPr>
          <a:xfrm>
            <a:off x="4709160" y="1828800"/>
            <a:ext cx="3520440" cy="1417320"/>
          </a:xfrm>
          <a:prstGeom prst="roundRect">
            <a:avLst>
              <a:gd name="adj" fmla="val 6452"/>
            </a:avLst>
          </a:prstGeom>
          <a:solidFill>
            <a:srgbClr val="3D5A80"/>
          </a:solidFill>
          <a:ln/>
        </p:spPr>
      </p:sp>
      <p:sp>
        <p:nvSpPr>
          <p:cNvPr id="10" name="Text 8"/>
          <p:cNvSpPr/>
          <p:nvPr/>
        </p:nvSpPr>
        <p:spPr>
          <a:xfrm>
            <a:off x="4937760" y="1965960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MANAGEMENT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937760" y="2249424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HabitProvider (ChangeNotifier)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4937760" y="2606040"/>
            <a:ext cx="3063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E7E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source of truth — CRUD,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E7E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toggleToday, attachPhoto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8229600" y="2240280"/>
            <a:ext cx="502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EE6C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600" dirty="0"/>
          </a:p>
        </p:txBody>
      </p:sp>
      <p:sp>
        <p:nvSpPr>
          <p:cNvPr id="14" name="Shape 12"/>
          <p:cNvSpPr/>
          <p:nvPr/>
        </p:nvSpPr>
        <p:spPr>
          <a:xfrm>
            <a:off x="8732520" y="1828800"/>
            <a:ext cx="3520440" cy="1417320"/>
          </a:xfrm>
          <a:prstGeom prst="roundRect">
            <a:avLst>
              <a:gd name="adj" fmla="val 6452"/>
            </a:avLst>
          </a:prstGeom>
          <a:solidFill>
            <a:srgbClr val="1E2E3F"/>
          </a:solidFill>
          <a:ln/>
        </p:spPr>
      </p:sp>
      <p:sp>
        <p:nvSpPr>
          <p:cNvPr id="15" name="Text 13"/>
          <p:cNvSpPr/>
          <p:nvPr/>
        </p:nvSpPr>
        <p:spPr>
          <a:xfrm>
            <a:off x="8961120" y="1965960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LAYER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8961120" y="2249424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Hive Box (habits_box)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8961120" y="2606040"/>
            <a:ext cx="3063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E7E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Penyimpanan lokal on-device,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E7E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TypeAdapter manual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685800" y="3520440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Setiap layar tidak pernah mengakses Hive secara langsung — semua operasi data wajib melalui HabitProvider.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85800" y="4160520"/>
            <a:ext cx="3520440" cy="502920"/>
          </a:xfrm>
          <a:prstGeom prst="roundRect">
            <a:avLst>
              <a:gd name="adj" fmla="val 10909"/>
            </a:avLst>
          </a:prstGeom>
          <a:solidFill>
            <a:srgbClr val="F4F6F9"/>
          </a:solidFill>
          <a:ln/>
        </p:spPr>
      </p:sp>
      <p:sp>
        <p:nvSpPr>
          <p:cNvPr id="20" name="Text 18"/>
          <p:cNvSpPr/>
          <p:nvPr/>
        </p:nvSpPr>
        <p:spPr>
          <a:xfrm>
            <a:off x="850392" y="416052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D5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provider  </a:t>
            </a:r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management terpusat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343400" y="4160520"/>
            <a:ext cx="3520440" cy="502920"/>
          </a:xfrm>
          <a:prstGeom prst="roundRect">
            <a:avLst>
              <a:gd name="adj" fmla="val 10909"/>
            </a:avLst>
          </a:prstGeom>
          <a:solidFill>
            <a:srgbClr val="F4F6F9"/>
          </a:solidFill>
          <a:ln/>
        </p:spPr>
      </p:sp>
      <p:sp>
        <p:nvSpPr>
          <p:cNvPr id="22" name="Text 20"/>
          <p:cNvSpPr/>
          <p:nvPr/>
        </p:nvSpPr>
        <p:spPr>
          <a:xfrm>
            <a:off x="4507992" y="416052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D5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hive / hive_flutter  </a:t>
            </a:r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Penyimpanan data lokal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8001000" y="4160520"/>
            <a:ext cx="3520440" cy="502920"/>
          </a:xfrm>
          <a:prstGeom prst="roundRect">
            <a:avLst>
              <a:gd name="adj" fmla="val 10909"/>
            </a:avLst>
          </a:prstGeom>
          <a:solidFill>
            <a:srgbClr val="F4F6F9"/>
          </a:solidFill>
          <a:ln/>
        </p:spPr>
      </p:sp>
      <p:sp>
        <p:nvSpPr>
          <p:cNvPr id="24" name="Text 22"/>
          <p:cNvSpPr/>
          <p:nvPr/>
        </p:nvSpPr>
        <p:spPr>
          <a:xfrm>
            <a:off x="8165592" y="416052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D5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image_picker  </a:t>
            </a:r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Akses kamera perangkat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85800" y="4800600"/>
            <a:ext cx="3520440" cy="502920"/>
          </a:xfrm>
          <a:prstGeom prst="roundRect">
            <a:avLst>
              <a:gd name="adj" fmla="val 10909"/>
            </a:avLst>
          </a:prstGeom>
          <a:solidFill>
            <a:srgbClr val="F4F6F9"/>
          </a:solidFill>
          <a:ln/>
        </p:spPr>
      </p:sp>
      <p:sp>
        <p:nvSpPr>
          <p:cNvPr id="26" name="Text 24"/>
          <p:cNvSpPr/>
          <p:nvPr/>
        </p:nvSpPr>
        <p:spPr>
          <a:xfrm>
            <a:off x="850392" y="480060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D5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path_provider  </a:t>
            </a:r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Direktori penyimpanan foto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4343400" y="4800600"/>
            <a:ext cx="3520440" cy="502920"/>
          </a:xfrm>
          <a:prstGeom prst="roundRect">
            <a:avLst>
              <a:gd name="adj" fmla="val 10909"/>
            </a:avLst>
          </a:prstGeom>
          <a:solidFill>
            <a:srgbClr val="F4F6F9"/>
          </a:solidFill>
          <a:ln/>
        </p:spPr>
      </p:sp>
      <p:sp>
        <p:nvSpPr>
          <p:cNvPr id="28" name="Text 26"/>
          <p:cNvSpPr/>
          <p:nvPr/>
        </p:nvSpPr>
        <p:spPr>
          <a:xfrm>
            <a:off x="4507992" y="480060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D5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intl  </a:t>
            </a:r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 tanggal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8001000" y="4800600"/>
            <a:ext cx="3520440" cy="502920"/>
          </a:xfrm>
          <a:prstGeom prst="roundRect">
            <a:avLst>
              <a:gd name="adj" fmla="val 10909"/>
            </a:avLst>
          </a:prstGeom>
          <a:solidFill>
            <a:srgbClr val="F4F6F9"/>
          </a:solidFill>
          <a:ln/>
        </p:spPr>
      </p:sp>
      <p:sp>
        <p:nvSpPr>
          <p:cNvPr id="30" name="Text 28"/>
          <p:cNvSpPr/>
          <p:nvPr/>
        </p:nvSpPr>
        <p:spPr>
          <a:xfrm>
            <a:off x="8165592" y="480060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D5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uuid  </a:t>
            </a:r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 unik tiap habit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54864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HABIT TRACKER APP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56032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EE6C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LAYER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45720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E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Model Data Habit (Hive)</a:t>
            </a:r>
            <a:endParaRPr lang="en-US" sz="30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54480"/>
          <a:ext cx="740664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1554480"/>
                <a:gridCol w="402336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Field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3D5A8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Tipe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3D5A8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Keterangan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3D5A8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E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D5A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 unik (uuid)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E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title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D5A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Nama habit, min. 3 karakter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4F6F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E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description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D5A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Deskripsi opsional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E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category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D5A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Kesehatan / Belajar / Produktivitas / dll.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4F6F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E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createdAt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D5A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DateTime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Tanggal habit dibuat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E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completedDates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D5A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List&lt;String&gt;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Tanggal-tanggal selesai (yyyy-MM-dd)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4F6F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E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photoPath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D5A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String?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Path foto bukti terakhir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8229600" y="1554480"/>
            <a:ext cx="3383280" cy="4434840"/>
          </a:xfrm>
          <a:prstGeom prst="roundRect">
            <a:avLst>
              <a:gd name="adj" fmla="val 2703"/>
            </a:avLst>
          </a:prstGeom>
          <a:solidFill>
            <a:srgbClr val="1E2E3F"/>
          </a:solidFill>
          <a:ln/>
        </p:spPr>
      </p:sp>
      <p:sp>
        <p:nvSpPr>
          <p:cNvPr id="6" name="Text 3"/>
          <p:cNvSpPr/>
          <p:nvPr/>
        </p:nvSpPr>
        <p:spPr>
          <a:xfrm>
            <a:off x="8503920" y="178308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EE6C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Kenapa TypeAdapter Manual?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8503920" y="2514600"/>
            <a:ext cx="283464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b="1" dirty="0">
                <a:solidFill>
                  <a:srgbClr val="EE6C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D7DF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Tidak bergantung pada build_runner saat setup awal
</a:t>
            </a:r>
            <a:pPr indent="0" marL="0">
              <a:lnSpc>
                <a:spcPct val="130000"/>
              </a:lnSpc>
              <a:buNone/>
            </a:pPr>
            <a:r>
              <a:rPr lang="en-US" sz="1150" b="1" dirty="0">
                <a:solidFill>
                  <a:srgbClr val="EE6C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D7DF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Proses baca/tulis byte biner ke Hive transparan &amp; mudah dijelaskan
</a:t>
            </a:r>
            <a:pPr indent="0" marL="0">
              <a:lnSpc>
                <a:spcPct val="130000"/>
              </a:lnSpc>
              <a:buNone/>
            </a:pPr>
            <a:r>
              <a:rPr lang="en-US" sz="1150" b="1" dirty="0">
                <a:solidFill>
                  <a:srgbClr val="EE6C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D7DF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Setiap field diberi index tetap (0–6) agar backward compatible</a:t>
            </a:r>
            <a:endParaRPr lang="en-US" sz="1150" dirty="0"/>
          </a:p>
        </p:txBody>
      </p:sp>
      <p:sp>
        <p:nvSpPr>
          <p:cNvPr id="8" name="Text 5"/>
          <p:cNvSpPr/>
          <p:nvPr/>
        </p:nvSpPr>
        <p:spPr>
          <a:xfrm>
            <a:off x="54864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HABIT TRACKER APP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56032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EE6C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MANAGEMENT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45720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E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Mengapa Provider, Bukan setState?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349240" cy="4206240"/>
          </a:xfrm>
          <a:prstGeom prst="roundRect">
            <a:avLst>
              <a:gd name="adj" fmla="val 2174"/>
            </a:avLst>
          </a:prstGeom>
          <a:solidFill>
            <a:srgbClr val="FDEDE8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182880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C144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Tanpa Provider (setState biasa)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868680" y="2331720"/>
            <a:ext cx="475488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300" b="1" dirty="0">
                <a:solidFill>
                  <a:srgbClr val="C144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  </a:t>
            </a:r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5A3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harus dioper manual antar-widget (prop-drilling)
</a:t>
            </a:r>
            <a:pPr indent="0" marL="0">
              <a:lnSpc>
                <a:spcPct val="150000"/>
              </a:lnSpc>
              <a:buNone/>
            </a:pPr>
            <a:r>
              <a:rPr lang="en-US" sz="1300" b="1" dirty="0">
                <a:solidFill>
                  <a:srgbClr val="C144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  </a:t>
            </a:r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5A3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Rawan data tidak sinkron antar-layar
</a:t>
            </a:r>
            <a:pPr indent="0" marL="0">
              <a:lnSpc>
                <a:spcPct val="150000"/>
              </a:lnSpc>
              <a:buNone/>
            </a:pPr>
            <a:r>
              <a:rPr lang="en-US" sz="1300" b="1" dirty="0">
                <a:solidFill>
                  <a:srgbClr val="C144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  </a:t>
            </a:r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5A3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Butuh logika penyegaran (refresh) tambahan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172200" y="1600200"/>
            <a:ext cx="5349240" cy="4206240"/>
          </a:xfrm>
          <a:prstGeom prst="roundRect">
            <a:avLst>
              <a:gd name="adj" fmla="val 2174"/>
            </a:avLst>
          </a:prstGeom>
          <a:solidFill>
            <a:srgbClr val="3D5A80"/>
          </a:solidFill>
          <a:ln/>
        </p:spPr>
      </p:sp>
      <p:sp>
        <p:nvSpPr>
          <p:cNvPr id="8" name="Text 6"/>
          <p:cNvSpPr/>
          <p:nvPr/>
        </p:nvSpPr>
        <p:spPr>
          <a:xfrm>
            <a:off x="6492240" y="182880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Dengan HabitProvider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6492240" y="2331720"/>
            <a:ext cx="475488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300" b="1" dirty="0">
                <a:solidFill>
                  <a:srgbClr val="BEE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EAF1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Satu instance yang didengarkan semua layar
</a:t>
            </a:r>
            <a:pPr indent="0" marL="0">
              <a:lnSpc>
                <a:spcPct val="150000"/>
              </a:lnSpc>
              <a:buNone/>
            </a:pPr>
            <a:r>
              <a:rPr lang="en-US" sz="1300" b="1" dirty="0">
                <a:solidFill>
                  <a:srgbClr val="BEE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EAF1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Perubahan di satu layar langsung tercermin di layar lain
</a:t>
            </a:r>
            <a:pPr indent="0" marL="0">
              <a:lnSpc>
                <a:spcPct val="150000"/>
              </a:lnSpc>
              <a:buNone/>
            </a:pPr>
            <a:r>
              <a:rPr lang="en-US" sz="1300" b="1" dirty="0">
                <a:solidFill>
                  <a:srgbClr val="BEE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EAF1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notifyListeners() memicu rebuild otomatis pada Consumer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4864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HABIT TRACKER APP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56032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EE6C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FITUR PERANGKAT MOBILE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45720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E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Kamera &amp; Permission Handling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2651760" cy="2148840"/>
          </a:xfrm>
          <a:prstGeom prst="roundRect">
            <a:avLst>
              <a:gd name="adj" fmla="val 3830"/>
            </a:avLst>
          </a:prstGeom>
          <a:solidFill>
            <a:srgbClr val="F4F6F9"/>
          </a:solidFill>
          <a:ln/>
        </p:spPr>
      </p:sp>
      <p:sp>
        <p:nvSpPr>
          <p:cNvPr id="5" name="Shape 3"/>
          <p:cNvSpPr/>
          <p:nvPr/>
        </p:nvSpPr>
        <p:spPr>
          <a:xfrm>
            <a:off x="777240" y="1920240"/>
            <a:ext cx="457200" cy="457200"/>
          </a:xfrm>
          <a:prstGeom prst="ellipse">
            <a:avLst/>
          </a:prstGeom>
          <a:solidFill>
            <a:srgbClr val="3D5A80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920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49808" y="2560320"/>
            <a:ext cx="22494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Tekan "Ambil Foto Bukti"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749808" y="3200400"/>
            <a:ext cx="224942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Memanggil ImagePicker.pickImage(source: camera)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200400" y="2331720"/>
            <a:ext cx="137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E6C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3337560" y="1691640"/>
            <a:ext cx="2651760" cy="2148840"/>
          </a:xfrm>
          <a:prstGeom prst="roundRect">
            <a:avLst>
              <a:gd name="adj" fmla="val 3830"/>
            </a:avLst>
          </a:prstGeom>
          <a:solidFill>
            <a:srgbClr val="F4F6F9"/>
          </a:solidFill>
          <a:ln/>
        </p:spPr>
      </p:sp>
      <p:sp>
        <p:nvSpPr>
          <p:cNvPr id="11" name="Shape 9"/>
          <p:cNvSpPr/>
          <p:nvPr/>
        </p:nvSpPr>
        <p:spPr>
          <a:xfrm>
            <a:off x="3566160" y="1920240"/>
            <a:ext cx="457200" cy="457200"/>
          </a:xfrm>
          <a:prstGeom prst="ellipse">
            <a:avLst/>
          </a:prstGeom>
          <a:solidFill>
            <a:srgbClr val="3D5A80"/>
          </a:solidFill>
          <a:ln/>
        </p:spPr>
      </p:sp>
      <p:sp>
        <p:nvSpPr>
          <p:cNvPr id="12" name="Text 10"/>
          <p:cNvSpPr/>
          <p:nvPr/>
        </p:nvSpPr>
        <p:spPr>
          <a:xfrm>
            <a:off x="3566160" y="1920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538728" y="2560320"/>
            <a:ext cx="22494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Dialog izin kamera muncul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3538728" y="3200400"/>
            <a:ext cx="224942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Ditangani otomatis oleh image_picker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989320" y="2331720"/>
            <a:ext cx="137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E6C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6126480" y="1691640"/>
            <a:ext cx="2651760" cy="2148840"/>
          </a:xfrm>
          <a:prstGeom prst="roundRect">
            <a:avLst>
              <a:gd name="adj" fmla="val 3830"/>
            </a:avLst>
          </a:prstGeom>
          <a:solidFill>
            <a:srgbClr val="F4F6F9"/>
          </a:solidFill>
          <a:ln/>
        </p:spPr>
      </p:sp>
      <p:sp>
        <p:nvSpPr>
          <p:cNvPr id="17" name="Shape 15"/>
          <p:cNvSpPr/>
          <p:nvPr/>
        </p:nvSpPr>
        <p:spPr>
          <a:xfrm>
            <a:off x="6355080" y="1920240"/>
            <a:ext cx="457200" cy="457200"/>
          </a:xfrm>
          <a:prstGeom prst="ellipse">
            <a:avLst/>
          </a:prstGeom>
          <a:solidFill>
            <a:srgbClr val="3D5A80"/>
          </a:solidFill>
          <a:ln/>
        </p:spPr>
      </p:sp>
      <p:sp>
        <p:nvSpPr>
          <p:cNvPr id="18" name="Text 16"/>
          <p:cNvSpPr/>
          <p:nvPr/>
        </p:nvSpPr>
        <p:spPr>
          <a:xfrm>
            <a:off x="6355080" y="1920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327648" y="2560320"/>
            <a:ext cx="22494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Foto disalin ke folder aplikasi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6327648" y="3200400"/>
            <a:ext cx="224942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Menggunakan path_provider agar path tetap valid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8778240" y="2331720"/>
            <a:ext cx="137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E6C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2000" dirty="0"/>
          </a:p>
        </p:txBody>
      </p:sp>
      <p:sp>
        <p:nvSpPr>
          <p:cNvPr id="22" name="Shape 20"/>
          <p:cNvSpPr/>
          <p:nvPr/>
        </p:nvSpPr>
        <p:spPr>
          <a:xfrm>
            <a:off x="8915400" y="1691640"/>
            <a:ext cx="2651760" cy="2148840"/>
          </a:xfrm>
          <a:prstGeom prst="roundRect">
            <a:avLst>
              <a:gd name="adj" fmla="val 3830"/>
            </a:avLst>
          </a:prstGeom>
          <a:solidFill>
            <a:srgbClr val="F4F6F9"/>
          </a:solidFill>
          <a:ln/>
        </p:spPr>
      </p:sp>
      <p:sp>
        <p:nvSpPr>
          <p:cNvPr id="23" name="Shape 21"/>
          <p:cNvSpPr/>
          <p:nvPr/>
        </p:nvSpPr>
        <p:spPr>
          <a:xfrm>
            <a:off x="9144000" y="1920240"/>
            <a:ext cx="457200" cy="457200"/>
          </a:xfrm>
          <a:prstGeom prst="ellipse">
            <a:avLst/>
          </a:prstGeom>
          <a:solidFill>
            <a:srgbClr val="3D5A80"/>
          </a:solidFill>
          <a:ln/>
        </p:spPr>
      </p:sp>
      <p:sp>
        <p:nvSpPr>
          <p:cNvPr id="24" name="Text 22"/>
          <p:cNvSpPr/>
          <p:nvPr/>
        </p:nvSpPr>
        <p:spPr>
          <a:xfrm>
            <a:off x="9144000" y="1920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9116568" y="2560320"/>
            <a:ext cx="22494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 foto disimpan ke Hive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9116568" y="3200400"/>
            <a:ext cx="224942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Melalui HabitProvider.attachPhoto()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548640" y="4160520"/>
            <a:ext cx="10881360" cy="1554480"/>
          </a:xfrm>
          <a:prstGeom prst="roundRect">
            <a:avLst>
              <a:gd name="adj" fmla="val 5882"/>
            </a:avLst>
          </a:prstGeom>
          <a:solidFill>
            <a:srgbClr val="1E2E3F"/>
          </a:solidFill>
          <a:ln/>
        </p:spPr>
      </p:sp>
      <p:sp>
        <p:nvSpPr>
          <p:cNvPr id="28" name="Text 26"/>
          <p:cNvSpPr/>
          <p:nvPr/>
        </p:nvSpPr>
        <p:spPr>
          <a:xfrm>
            <a:off x="868680" y="434340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E6C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Penanganan Kegagalan Izin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868680" y="4663440"/>
            <a:ext cx="10241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D7DF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Jika pengguna menolak izin kamera, ImagePicker melempar exception yang ditangkap oleh blok try–catch pada _capturePhotoProof(). Aplikasi menampilkan SnackBar berisi pesan error — bukan crash.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54864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HABIT TRACKER APP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56032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EE6C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FLOW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45720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E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Alur Navigasi Pengguna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2011680"/>
            <a:ext cx="2926080" cy="1371600"/>
          </a:xfrm>
          <a:prstGeom prst="roundRect">
            <a:avLst>
              <a:gd name="adj" fmla="val 6667"/>
            </a:avLst>
          </a:prstGeom>
          <a:solidFill>
            <a:srgbClr val="F4F6F9"/>
          </a:solidFill>
          <a:ln w="12700">
            <a:solidFill>
              <a:srgbClr val="6B8CA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228600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HomeScreen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68680" y="278892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Daftar habit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4434840" y="2011680"/>
            <a:ext cx="2926080" cy="1371600"/>
          </a:xfrm>
          <a:prstGeom prst="roundRect">
            <a:avLst>
              <a:gd name="adj" fmla="val 6667"/>
            </a:avLst>
          </a:prstGeom>
          <a:solidFill>
            <a:srgbClr val="F4F6F9"/>
          </a:solidFill>
          <a:ln w="12700">
            <a:solidFill>
              <a:srgbClr val="6B8CA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617720" y="228600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AddEditHabitScreen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617720" y="278892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Tambah / edit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8183880" y="2011680"/>
            <a:ext cx="2926080" cy="1371600"/>
          </a:xfrm>
          <a:prstGeom prst="roundRect">
            <a:avLst>
              <a:gd name="adj" fmla="val 6667"/>
            </a:avLst>
          </a:prstGeom>
          <a:solidFill>
            <a:srgbClr val="3D5A80"/>
          </a:solidFill>
          <a:ln w="12700">
            <a:solidFill>
              <a:srgbClr val="6B8CA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366760" y="228600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HabitDetailScreen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8366760" y="278892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4EA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Detail &amp; aksi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3063240" y="242316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E6C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FAB +  →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812280" y="242316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E6C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tap kartu  →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657600" y="361188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kembali setelah simpan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685800" y="40233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Aksi yang tersedia di HabitDetailScreen: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685800" y="4572000"/>
            <a:ext cx="146304" cy="146304"/>
          </a:xfrm>
          <a:prstGeom prst="ellipse">
            <a:avLst/>
          </a:prstGeom>
          <a:solidFill>
            <a:srgbClr val="EE6C4D"/>
          </a:solidFill>
          <a:ln/>
        </p:spPr>
      </p:sp>
      <p:sp>
        <p:nvSpPr>
          <p:cNvPr id="18" name="Text 16"/>
          <p:cNvSpPr/>
          <p:nvPr/>
        </p:nvSpPr>
        <p:spPr>
          <a:xfrm>
            <a:off x="960120" y="4453128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Tandai selesai hari ini (toggle streak)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080760" y="4572000"/>
            <a:ext cx="146304" cy="146304"/>
          </a:xfrm>
          <a:prstGeom prst="ellipse">
            <a:avLst/>
          </a:prstGeom>
          <a:solidFill>
            <a:srgbClr val="EE6C4D"/>
          </a:solidFill>
          <a:ln/>
        </p:spPr>
      </p:sp>
      <p:sp>
        <p:nvSpPr>
          <p:cNvPr id="20" name="Text 18"/>
          <p:cNvSpPr/>
          <p:nvPr/>
        </p:nvSpPr>
        <p:spPr>
          <a:xfrm>
            <a:off x="6355080" y="4453128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Ambil / ganti foto bukti via kamera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685800" y="5120640"/>
            <a:ext cx="146304" cy="146304"/>
          </a:xfrm>
          <a:prstGeom prst="ellipse">
            <a:avLst/>
          </a:prstGeom>
          <a:solidFill>
            <a:srgbClr val="EE6C4D"/>
          </a:solidFill>
          <a:ln/>
        </p:spPr>
      </p:sp>
      <p:sp>
        <p:nvSpPr>
          <p:cNvPr id="22" name="Text 20"/>
          <p:cNvSpPr/>
          <p:nvPr/>
        </p:nvSpPr>
        <p:spPr>
          <a:xfrm>
            <a:off x="960120" y="5001768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 data habit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6080760" y="5120640"/>
            <a:ext cx="146304" cy="146304"/>
          </a:xfrm>
          <a:prstGeom prst="ellipse">
            <a:avLst/>
          </a:prstGeom>
          <a:solidFill>
            <a:srgbClr val="EE6C4D"/>
          </a:solidFill>
          <a:ln/>
        </p:spPr>
      </p:sp>
      <p:sp>
        <p:nvSpPr>
          <p:cNvPr id="24" name="Text 22"/>
          <p:cNvSpPr/>
          <p:nvPr/>
        </p:nvSpPr>
        <p:spPr>
          <a:xfrm>
            <a:off x="6355080" y="5001768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Hapus habit (dengan dialog konfirmasi)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54864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HABIT TRACKER APP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56032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EE6C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KUALITAS DATA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45720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E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Validasi Form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5486400" cy="4114800"/>
          </a:xfrm>
          <a:prstGeom prst="roundRect">
            <a:avLst>
              <a:gd name="adj" fmla="val 2222"/>
            </a:avLst>
          </a:prstGeom>
          <a:solidFill>
            <a:srgbClr val="F4F6F9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192024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D5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Aturan Validasi Nama Habit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68680" y="2377440"/>
            <a:ext cx="484632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35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Tidak boleh kosong
</a:t>
            </a:r>
            <a:pPr indent="0" marL="0">
              <a:lnSpc>
                <a:spcPct val="140000"/>
              </a:lnSpc>
              <a:buNone/>
            </a:pPr>
            <a:r>
              <a:rPr lang="en-US" sz="135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Minimal 3 karakter
</a:t>
            </a:r>
            <a:pPr indent="0" marL="0">
              <a:lnSpc>
                <a:spcPct val="140000"/>
              </a:lnSpc>
              <a:buNone/>
            </a:pPr>
            <a:r>
              <a:rPr lang="en-US" sz="135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Validasi dijalankan sebelum data disimpan ke Hive (form.validate())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309360" y="1645920"/>
            <a:ext cx="5212080" cy="4114800"/>
          </a:xfrm>
          <a:prstGeom prst="roundRect">
            <a:avLst>
              <a:gd name="adj" fmla="val 2222"/>
            </a:avLst>
          </a:prstGeom>
          <a:solidFill>
            <a:srgbClr val="1E2E3F"/>
          </a:solidFill>
          <a:ln/>
        </p:spPr>
      </p:sp>
      <p:sp>
        <p:nvSpPr>
          <p:cNvPr id="8" name="Text 6"/>
          <p:cNvSpPr/>
          <p:nvPr/>
        </p:nvSpPr>
        <p:spPr>
          <a:xfrm>
            <a:off x="6629400" y="19202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E6C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Jika Validasi Gagal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629400" y="2377440"/>
            <a:ext cx="457200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350" dirty="0">
                <a:solidFill>
                  <a:srgbClr val="D7DF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Proses simpan (_save()) dibatalkan dan pesan error ditampilkan langsung di bawah field terkait — pengguna tidak perlu meninggalkan layar form untuk mengetahui kesalahan input.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54864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HABIT TRACKER APP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56032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EE6C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45720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E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Instalasi &amp; Build APK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411480" cy="411480"/>
          </a:xfrm>
          <a:prstGeom prst="roundRect">
            <a:avLst>
              <a:gd name="adj" fmla="val 17778"/>
            </a:avLst>
          </a:prstGeom>
          <a:solidFill>
            <a:srgbClr val="3D5A80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6002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143000" y="1581912"/>
            <a:ext cx="10241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A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flutter create habit_tracker_app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2258568"/>
            <a:ext cx="411480" cy="411480"/>
          </a:xfrm>
          <a:prstGeom prst="roundRect">
            <a:avLst>
              <a:gd name="adj" fmla="val 17778"/>
            </a:avLst>
          </a:prstGeom>
          <a:solidFill>
            <a:srgbClr val="3D5A80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225856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143000" y="2240280"/>
            <a:ext cx="10241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A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Timpa pubspec.yaml &amp; folder lib/ dengan paket proyek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8640" y="2916936"/>
            <a:ext cx="411480" cy="411480"/>
          </a:xfrm>
          <a:prstGeom prst="roundRect">
            <a:avLst>
              <a:gd name="adj" fmla="val 17778"/>
            </a:avLst>
          </a:prstGeom>
          <a:solidFill>
            <a:srgbClr val="3D5A80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2916936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143000" y="2898648"/>
            <a:ext cx="10241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A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flutter pub get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48640" y="3575304"/>
            <a:ext cx="411480" cy="411480"/>
          </a:xfrm>
          <a:prstGeom prst="roundRect">
            <a:avLst>
              <a:gd name="adj" fmla="val 17778"/>
            </a:avLst>
          </a:prstGeom>
          <a:solidFill>
            <a:srgbClr val="3D5A80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3575304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143000" y="3557016"/>
            <a:ext cx="10241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A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Tambahkan izin kamera di AndroidManifest.xml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4233672"/>
            <a:ext cx="411480" cy="411480"/>
          </a:xfrm>
          <a:prstGeom prst="roundRect">
            <a:avLst>
              <a:gd name="adj" fmla="val 17778"/>
            </a:avLst>
          </a:prstGeom>
          <a:solidFill>
            <a:srgbClr val="3D5A80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423367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143000" y="4215384"/>
            <a:ext cx="10241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A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flutter run  →  untuk menjalankan di emulator/device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548640" y="4892040"/>
            <a:ext cx="411480" cy="411480"/>
          </a:xfrm>
          <a:prstGeom prst="roundRect">
            <a:avLst>
              <a:gd name="adj" fmla="val 17778"/>
            </a:avLst>
          </a:prstGeom>
          <a:solidFill>
            <a:srgbClr val="EE6C4D"/>
          </a:solidFill>
          <a:ln/>
        </p:spPr>
      </p:sp>
      <p:sp>
        <p:nvSpPr>
          <p:cNvPr id="20" name="Text 18"/>
          <p:cNvSpPr/>
          <p:nvPr/>
        </p:nvSpPr>
        <p:spPr>
          <a:xfrm>
            <a:off x="548640" y="48920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143000" y="4873752"/>
            <a:ext cx="10241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A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flutter build apk --release  →  menghasilkan file APK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48640" y="5715000"/>
            <a:ext cx="10881360" cy="457200"/>
          </a:xfrm>
          <a:prstGeom prst="rect">
            <a:avLst/>
          </a:prstGeom>
          <a:solidFill>
            <a:srgbClr val="1E2E3F"/>
          </a:solidFill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Output: build/app/outputs/flutter-apk/app-release.apk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54864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HABIT TRACKER APP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56032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EE6C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45720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E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Pengembangan Lanjutan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2651760" cy="3291840"/>
          </a:xfrm>
          <a:prstGeom prst="roundRect">
            <a:avLst>
              <a:gd name="adj" fmla="val 3448"/>
            </a:avLst>
          </a:prstGeom>
          <a:solidFill>
            <a:srgbClr val="F4F6F9"/>
          </a:solidFill>
          <a:ln/>
        </p:spPr>
      </p:sp>
      <p:sp>
        <p:nvSpPr>
          <p:cNvPr id="5" name="Shape 3"/>
          <p:cNvSpPr/>
          <p:nvPr/>
        </p:nvSpPr>
        <p:spPr>
          <a:xfrm>
            <a:off x="822960" y="2011680"/>
            <a:ext cx="640080" cy="640080"/>
          </a:xfrm>
          <a:prstGeom prst="ellipse">
            <a:avLst/>
          </a:prstGeom>
          <a:solidFill>
            <a:srgbClr val="3D5A80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20116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🔔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777240" y="288036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Notifikasi Pengingat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777240" y="3520440"/>
            <a:ext cx="21945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flutter_local_notifications untuk reminder harian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383280" y="1737360"/>
            <a:ext cx="2651760" cy="3291840"/>
          </a:xfrm>
          <a:prstGeom prst="roundRect">
            <a:avLst>
              <a:gd name="adj" fmla="val 3448"/>
            </a:avLst>
          </a:prstGeom>
          <a:solidFill>
            <a:srgbClr val="F4F6F9"/>
          </a:solidFill>
          <a:ln/>
        </p:spPr>
      </p:sp>
      <p:sp>
        <p:nvSpPr>
          <p:cNvPr id="10" name="Shape 8"/>
          <p:cNvSpPr/>
          <p:nvPr/>
        </p:nvSpPr>
        <p:spPr>
          <a:xfrm>
            <a:off x="3657600" y="2011680"/>
            <a:ext cx="640080" cy="640080"/>
          </a:xfrm>
          <a:prstGeom prst="ellipse">
            <a:avLst/>
          </a:prstGeom>
          <a:solidFill>
            <a:srgbClr val="3D5A80"/>
          </a:solidFill>
          <a:ln/>
        </p:spPr>
      </p:sp>
      <p:sp>
        <p:nvSpPr>
          <p:cNvPr id="11" name="Text 9"/>
          <p:cNvSpPr/>
          <p:nvPr/>
        </p:nvSpPr>
        <p:spPr>
          <a:xfrm>
            <a:off x="3657600" y="20116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📊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3611880" y="288036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Grafik Progres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3611880" y="3520440"/>
            <a:ext cx="21945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Visualisasi konsistensi mingguan / bulanan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217920" y="1737360"/>
            <a:ext cx="2651760" cy="3291840"/>
          </a:xfrm>
          <a:prstGeom prst="roundRect">
            <a:avLst>
              <a:gd name="adj" fmla="val 3448"/>
            </a:avLst>
          </a:prstGeom>
          <a:solidFill>
            <a:srgbClr val="F4F6F9"/>
          </a:solidFill>
          <a:ln/>
        </p:spPr>
      </p:sp>
      <p:sp>
        <p:nvSpPr>
          <p:cNvPr id="15" name="Shape 13"/>
          <p:cNvSpPr/>
          <p:nvPr/>
        </p:nvSpPr>
        <p:spPr>
          <a:xfrm>
            <a:off x="6492240" y="2011680"/>
            <a:ext cx="640080" cy="640080"/>
          </a:xfrm>
          <a:prstGeom prst="ellipse">
            <a:avLst/>
          </a:prstGeom>
          <a:solidFill>
            <a:srgbClr val="3D5A80"/>
          </a:solidFill>
          <a:ln/>
        </p:spPr>
      </p:sp>
      <p:sp>
        <p:nvSpPr>
          <p:cNvPr id="16" name="Text 14"/>
          <p:cNvSpPr/>
          <p:nvPr/>
        </p:nvSpPr>
        <p:spPr>
          <a:xfrm>
            <a:off x="6492240" y="20116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🏷️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6446520" y="288036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Kategori Kustom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6446520" y="3520440"/>
            <a:ext cx="21945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Pengguna dapat menambah/mengedit kategori sendiri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9052560" y="1737360"/>
            <a:ext cx="2651760" cy="3291840"/>
          </a:xfrm>
          <a:prstGeom prst="roundRect">
            <a:avLst>
              <a:gd name="adj" fmla="val 3448"/>
            </a:avLst>
          </a:prstGeom>
          <a:solidFill>
            <a:srgbClr val="F4F6F9"/>
          </a:solidFill>
          <a:ln/>
        </p:spPr>
      </p:sp>
      <p:sp>
        <p:nvSpPr>
          <p:cNvPr id="20" name="Shape 18"/>
          <p:cNvSpPr/>
          <p:nvPr/>
        </p:nvSpPr>
        <p:spPr>
          <a:xfrm>
            <a:off x="9326880" y="2011680"/>
            <a:ext cx="640080" cy="640080"/>
          </a:xfrm>
          <a:prstGeom prst="ellipse">
            <a:avLst/>
          </a:prstGeom>
          <a:solidFill>
            <a:srgbClr val="3D5A80"/>
          </a:solidFill>
          <a:ln/>
        </p:spPr>
      </p:sp>
      <p:sp>
        <p:nvSpPr>
          <p:cNvPr id="21" name="Text 19"/>
          <p:cNvSpPr/>
          <p:nvPr/>
        </p:nvSpPr>
        <p:spPr>
          <a:xfrm>
            <a:off x="9326880" y="20116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☁️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9281160" y="288036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Sinkronisasi Cloud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9281160" y="3520440"/>
            <a:ext cx="21945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Backup data ke Firebase agar aman lintas perangkat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4864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HABIT TRACKER APP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E2E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2011680"/>
            <a:ext cx="5486400" cy="5486400"/>
          </a:xfrm>
          <a:prstGeom prst="ellipse">
            <a:avLst/>
          </a:prstGeom>
          <a:solidFill>
            <a:srgbClr val="3D5A80">
              <a:alpha val="4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692640" y="4114800"/>
            <a:ext cx="4114800" cy="4114800"/>
          </a:xfrm>
          <a:prstGeom prst="ellipse">
            <a:avLst/>
          </a:prstGeom>
          <a:solidFill>
            <a:srgbClr val="EE6C4D">
              <a:alpha val="22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2286000"/>
            <a:ext cx="9601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Terima Kasih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822960" y="324612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9D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Habit Tracker App — Final Project UAS Mobile Computing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822960" y="3977640"/>
            <a:ext cx="2011680" cy="0"/>
          </a:xfrm>
          <a:prstGeom prst="line">
            <a:avLst/>
          </a:prstGeom>
          <a:noFill/>
          <a:ln w="31750">
            <a:solidFill>
              <a:srgbClr val="EE6C4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4160520"/>
            <a:ext cx="5486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Sandy Nurrohman</a:t>
            </a:r>
            <a:endParaRPr lang="en-US" sz="16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9FB0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NIM 24110500004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2026-07-12T11:42:35Z</dcterms:created>
  <dcterms:modified xsi:type="dcterms:W3CDTF">2026-07-12T11:42:35Z</dcterms:modified>
</cp:coreProperties>
</file>